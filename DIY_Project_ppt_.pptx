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2" r:id="rId13"/>
    <p:sldId id="343" r:id="rId14"/>
    <p:sldId id="344"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si.breja2907@gmail.com" userId="8d064ba0939f7c67" providerId="LiveId" clId="{576F95EE-F561-4FF4-B0FA-504356019BF2}"/>
    <pc:docChg chg="custSel modSld">
      <pc:chgData name="mansi.breja2907@gmail.com" userId="8d064ba0939f7c67" providerId="LiveId" clId="{576F95EE-F561-4FF4-B0FA-504356019BF2}" dt="2026-10-06T10:20:10.132" v="1" actId="14100"/>
      <pc:docMkLst>
        <pc:docMk/>
      </pc:docMkLst>
      <pc:sldChg chg="delSp modSp mod">
        <pc:chgData name="mansi.breja2907@gmail.com" userId="8d064ba0939f7c67" providerId="LiveId" clId="{576F95EE-F561-4FF4-B0FA-504356019BF2}" dt="2026-10-06T10:20:10.132" v="1" actId="14100"/>
        <pc:sldMkLst>
          <pc:docMk/>
          <pc:sldMk cId="3401748718" sldId="304"/>
        </pc:sldMkLst>
        <pc:spChg chg="mod">
          <ac:chgData name="mansi.breja2907@gmail.com" userId="8d064ba0939f7c67" providerId="LiveId" clId="{576F95EE-F561-4FF4-B0FA-504356019BF2}" dt="2026-10-06T10:20:10.132" v="1" actId="14100"/>
          <ac:spMkLst>
            <pc:docMk/>
            <pc:sldMk cId="3401748718" sldId="304"/>
            <ac:spMk id="3" creationId="{D88C20CF-C1EE-4092-B52D-FD4AB2AB2508}"/>
          </ac:spMkLst>
        </pc:spChg>
        <pc:spChg chg="del">
          <ac:chgData name="mansi.breja2907@gmail.com" userId="8d064ba0939f7c67" providerId="LiveId" clId="{576F95EE-F561-4FF4-B0FA-504356019BF2}" dt="2026-10-06T10:20:02.216" v="0" actId="21"/>
          <ac:spMkLst>
            <pc:docMk/>
            <pc:sldMk cId="3401748718" sldId="304"/>
            <ac:spMk id="12" creationId="{BC277FD7-925B-4C3D-A364-11840320150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58405" y="3307702"/>
            <a:ext cx="4641269" cy="1747112"/>
          </a:xfrm>
        </p:spPr>
        <p:txBody>
          <a:bodyPr/>
          <a:lstStyle/>
          <a:p>
            <a:pPr algn="r"/>
            <a:r>
              <a:rPr lang="en-US" b="0" dirty="0">
                <a:solidFill>
                  <a:schemeClr val="tx1"/>
                </a:solidFill>
              </a:rPr>
              <a:t>[Student Name ] :  Mansi Breja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29004" y="2050553"/>
            <a:ext cx="10182587" cy="743448"/>
          </a:xfrm>
        </p:spPr>
        <p:txBody>
          <a:bodyPr>
            <a:normAutofit/>
          </a:bodyPr>
          <a:lstStyle/>
          <a:p>
            <a:r>
              <a:rPr lang="en-GB" sz="3200" dirty="0"/>
              <a:t>Project Title – Healthcare analytics for doctor visit.</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791234" cy="3607987"/>
          </a:xfrm>
        </p:spPr>
        <p:txBody>
          <a:bodyPr>
            <a:normAutofit/>
          </a:bodyPr>
          <a:lstStyle/>
          <a:p>
            <a:pPr>
              <a:lnSpc>
                <a:spcPct val="100000"/>
              </a:lnSpc>
            </a:pPr>
            <a:r>
              <a:rPr lang="en-IN" dirty="0"/>
              <a:t>Healthcare organizations generate large amounts of data related to patient visits, demographics, medical conditions, and healthcare services. However, </a:t>
            </a:r>
            <a:r>
              <a:rPr lang="en-IN" dirty="0" err="1"/>
              <a:t>analyzing</a:t>
            </a:r>
            <a:r>
              <a:rPr lang="en-IN" dirty="0"/>
              <a:t> this data effectively can be challenging. The project aims to </a:t>
            </a:r>
            <a:r>
              <a:rPr lang="en-IN" dirty="0" err="1"/>
              <a:t>analyze</a:t>
            </a:r>
            <a:r>
              <a:rPr lang="en-IN" dirty="0"/>
              <a:t> doctor visit data to identify patterns in patient visits, understand demographic and medical trends, and uncover factors influencing healthcare utilization. The analysis can help healthcare providers make data-driven decisions, improve resource allocation, and enhance patient care.</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2400" dirty="0"/>
              <a:t>Project Description</a:t>
            </a:r>
            <a:br>
              <a:rPr lang="en-GB" sz="2400" dirty="0"/>
            </a:br>
            <a:r>
              <a:rPr lang="en-GB" sz="2400" dirty="0"/>
              <a:t>[write detail description about your project ] </a:t>
            </a:r>
            <a:br>
              <a:rPr lang="en-GB" sz="2400" dirty="0"/>
            </a:br>
            <a:br>
              <a:rPr lang="en-GB" sz="2400" dirty="0"/>
            </a:br>
            <a:br>
              <a:rPr lang="en-GB" sz="2400" dirty="0"/>
            </a:b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9F62F8F1-32D9-34A8-529B-3C9EBE9AEFCB}"/>
              </a:ext>
            </a:extLst>
          </p:cNvPr>
          <p:cNvSpPr txBox="1"/>
          <p:nvPr/>
        </p:nvSpPr>
        <p:spPr>
          <a:xfrm>
            <a:off x="830425" y="2715209"/>
            <a:ext cx="5611561" cy="1754326"/>
          </a:xfrm>
          <a:prstGeom prst="rect">
            <a:avLst/>
          </a:prstGeom>
          <a:noFill/>
        </p:spPr>
        <p:txBody>
          <a:bodyPr wrap="square" rtlCol="0">
            <a:spAutoFit/>
          </a:bodyPr>
          <a:lstStyle/>
          <a:p>
            <a:r>
              <a:rPr lang="en-IN" dirty="0">
                <a:solidFill>
                  <a:schemeClr val="tx2">
                    <a:lumMod val="60000"/>
                    <a:lumOff val="40000"/>
                  </a:schemeClr>
                </a:solidFill>
              </a:rPr>
              <a:t>The </a:t>
            </a:r>
            <a:r>
              <a:rPr lang="en-IN" b="1" dirty="0">
                <a:solidFill>
                  <a:schemeClr val="tx2">
                    <a:lumMod val="60000"/>
                    <a:lumOff val="40000"/>
                  </a:schemeClr>
                </a:solidFill>
              </a:rPr>
              <a:t>Healthcare Analytics – Doctor Visit Analysis</a:t>
            </a:r>
            <a:r>
              <a:rPr lang="en-IN" dirty="0">
                <a:solidFill>
                  <a:schemeClr val="tx2">
                    <a:lumMod val="60000"/>
                    <a:lumOff val="40000"/>
                  </a:schemeClr>
                </a:solidFill>
              </a:rPr>
              <a:t> project focuses on </a:t>
            </a:r>
            <a:r>
              <a:rPr lang="en-IN" dirty="0" err="1">
                <a:solidFill>
                  <a:schemeClr val="tx2">
                    <a:lumMod val="60000"/>
                    <a:lumOff val="40000"/>
                  </a:schemeClr>
                </a:solidFill>
              </a:rPr>
              <a:t>analyzing</a:t>
            </a:r>
            <a:r>
              <a:rPr lang="en-IN" dirty="0">
                <a:solidFill>
                  <a:schemeClr val="tx2">
                    <a:lumMod val="60000"/>
                    <a:lumOff val="40000"/>
                  </a:schemeClr>
                </a:solidFill>
              </a:rPr>
              <a:t> patient and doctor visit data using data analytics techniques. The dataset is explored to understand patterns such as the number of doctor visits, patient demographics, medical conditions, age groups, and other relevant factors.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2400" dirty="0"/>
              <a:t>Hospital Organisations</a:t>
            </a:r>
          </a:p>
          <a:p>
            <a:pPr algn="just">
              <a:lnSpc>
                <a:spcPct val="150000"/>
              </a:lnSpc>
            </a:pPr>
            <a:r>
              <a:rPr lang="en-IN" sz="2400" dirty="0"/>
              <a:t>Health care firms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Python</a:t>
            </a:r>
          </a:p>
          <a:p>
            <a:pPr lvl="1">
              <a:lnSpc>
                <a:spcPct val="150000"/>
              </a:lnSpc>
            </a:pPr>
            <a:r>
              <a:rPr lang="en-IN" dirty="0"/>
              <a:t>Visual Code Studio</a:t>
            </a:r>
          </a:p>
          <a:p>
            <a:pPr lvl="1">
              <a:lnSpc>
                <a:spcPct val="150000"/>
              </a:lnSpc>
            </a:pPr>
            <a:r>
              <a:rPr lang="en-IN" dirty="0" err="1"/>
              <a:t>Numpy</a:t>
            </a:r>
            <a:r>
              <a:rPr lang="en-IN" dirty="0"/>
              <a:t> ,Pandas </a:t>
            </a:r>
          </a:p>
          <a:p>
            <a:pPr lvl="1">
              <a:lnSpc>
                <a:spcPct val="150000"/>
              </a:lnSpc>
            </a:pPr>
            <a:r>
              <a:rPr lang="en-IN" dirty="0" err="1"/>
              <a:t>Matplotlib,Seaborn</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3" name="Picture 12">
            <a:extLst>
              <a:ext uri="{FF2B5EF4-FFF2-40B4-BE49-F238E27FC236}">
                <a16:creationId xmlns:a16="http://schemas.microsoft.com/office/drawing/2014/main" id="{BBEE4D9A-D331-82DE-C8F0-9A3DDEE37F0D}"/>
              </a:ext>
            </a:extLst>
          </p:cNvPr>
          <p:cNvPicPr>
            <a:picLocks noChangeAspect="1"/>
          </p:cNvPicPr>
          <p:nvPr/>
        </p:nvPicPr>
        <p:blipFill>
          <a:blip r:embed="rId4"/>
          <a:stretch>
            <a:fillRect/>
          </a:stretch>
        </p:blipFill>
        <p:spPr>
          <a:xfrm>
            <a:off x="320982" y="2113859"/>
            <a:ext cx="6465618" cy="300189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52162-C4E5-00D0-B072-3BD5FC5BEF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3A4BBBB-1E22-50D3-ADBB-12447F0D492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6FD4555-B295-FF14-628A-744F8642405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2B94656-63F9-A34A-CFB7-92F0865D87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461D5F1C-EA8D-0541-BF88-BD80D120B71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0C535F8-4CDA-3FEB-06B2-AB0F2339955B}"/>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3" name="Picture 2">
            <a:extLst>
              <a:ext uri="{FF2B5EF4-FFF2-40B4-BE49-F238E27FC236}">
                <a16:creationId xmlns:a16="http://schemas.microsoft.com/office/drawing/2014/main" id="{0F7F4196-BC96-8F15-9DC3-65B3CC01DCFC}"/>
              </a:ext>
            </a:extLst>
          </p:cNvPr>
          <p:cNvPicPr>
            <a:picLocks noChangeAspect="1"/>
          </p:cNvPicPr>
          <p:nvPr/>
        </p:nvPicPr>
        <p:blipFill>
          <a:blip r:embed="rId4"/>
          <a:stretch>
            <a:fillRect/>
          </a:stretch>
        </p:blipFill>
        <p:spPr>
          <a:xfrm>
            <a:off x="675957" y="1460270"/>
            <a:ext cx="5266176" cy="4484666"/>
          </a:xfrm>
          <a:prstGeom prst="rect">
            <a:avLst/>
          </a:prstGeom>
        </p:spPr>
      </p:pic>
    </p:spTree>
    <p:extLst>
      <p:ext uri="{BB962C8B-B14F-4D97-AF65-F5344CB8AC3E}">
        <p14:creationId xmlns:p14="http://schemas.microsoft.com/office/powerpoint/2010/main" val="2303734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7E6C5-6EAA-F823-BB0D-22F2D77F605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9CE984-0B38-073C-ACD9-CE4ECBCF5C1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41F1960-FFFD-B96F-3486-1F2B56607A1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5787E6F-6853-B8CA-0051-0368981207D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C4C1CC-D0BB-975B-8923-E0EFBBCF011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4A21AAD8-700C-E67F-C549-77945D9844D6}"/>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13" name="Picture 12">
            <a:extLst>
              <a:ext uri="{FF2B5EF4-FFF2-40B4-BE49-F238E27FC236}">
                <a16:creationId xmlns:a16="http://schemas.microsoft.com/office/drawing/2014/main" id="{F768D704-9919-633E-F761-8BA66E2D9C85}"/>
              </a:ext>
            </a:extLst>
          </p:cNvPr>
          <p:cNvPicPr>
            <a:picLocks noChangeAspect="1"/>
          </p:cNvPicPr>
          <p:nvPr/>
        </p:nvPicPr>
        <p:blipFill>
          <a:blip r:embed="rId4"/>
          <a:stretch>
            <a:fillRect/>
          </a:stretch>
        </p:blipFill>
        <p:spPr>
          <a:xfrm>
            <a:off x="515357" y="1275371"/>
            <a:ext cx="5502117" cy="1615580"/>
          </a:xfrm>
          <a:prstGeom prst="rect">
            <a:avLst/>
          </a:prstGeom>
        </p:spPr>
      </p:pic>
      <p:pic>
        <p:nvPicPr>
          <p:cNvPr id="15" name="Picture 14">
            <a:extLst>
              <a:ext uri="{FF2B5EF4-FFF2-40B4-BE49-F238E27FC236}">
                <a16:creationId xmlns:a16="http://schemas.microsoft.com/office/drawing/2014/main" id="{9CD3CB70-6B71-6C15-C780-DB7B2F47BAE7}"/>
              </a:ext>
            </a:extLst>
          </p:cNvPr>
          <p:cNvPicPr>
            <a:picLocks noChangeAspect="1"/>
          </p:cNvPicPr>
          <p:nvPr/>
        </p:nvPicPr>
        <p:blipFill>
          <a:blip r:embed="rId5"/>
          <a:stretch>
            <a:fillRect/>
          </a:stretch>
        </p:blipFill>
        <p:spPr>
          <a:xfrm>
            <a:off x="784776" y="3119327"/>
            <a:ext cx="5391674" cy="3594449"/>
          </a:xfrm>
          <a:prstGeom prst="rect">
            <a:avLst/>
          </a:prstGeom>
        </p:spPr>
      </p:pic>
    </p:spTree>
    <p:extLst>
      <p:ext uri="{BB962C8B-B14F-4D97-AF65-F5344CB8AC3E}">
        <p14:creationId xmlns:p14="http://schemas.microsoft.com/office/powerpoint/2010/main" val="1566484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1A6C1-33FF-EF54-5C58-DCE7D3D4398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8AF553B-A119-3F07-4863-5E181412374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7496DBD-D643-88A7-49AB-D2A3FCB8FFAE}"/>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74D70923-B04F-BD44-FF51-F6DA50608FB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CC47EC0-14A1-47DD-03EE-7C43EE9F3B6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78364EDF-B9B1-AF6C-7E94-62333DFE312A}"/>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pic>
        <p:nvPicPr>
          <p:cNvPr id="12" name="Picture 11">
            <a:extLst>
              <a:ext uri="{FF2B5EF4-FFF2-40B4-BE49-F238E27FC236}">
                <a16:creationId xmlns:a16="http://schemas.microsoft.com/office/drawing/2014/main" id="{958D87E7-1A77-268E-C1B1-6F1147F590EF}"/>
              </a:ext>
            </a:extLst>
          </p:cNvPr>
          <p:cNvPicPr>
            <a:picLocks noChangeAspect="1"/>
          </p:cNvPicPr>
          <p:nvPr/>
        </p:nvPicPr>
        <p:blipFill>
          <a:blip r:embed="rId3"/>
          <a:stretch>
            <a:fillRect/>
          </a:stretch>
        </p:blipFill>
        <p:spPr>
          <a:xfrm>
            <a:off x="737904" y="1374066"/>
            <a:ext cx="2857748" cy="922100"/>
          </a:xfrm>
          <a:prstGeom prst="rect">
            <a:avLst/>
          </a:prstGeom>
        </p:spPr>
      </p:pic>
      <p:pic>
        <p:nvPicPr>
          <p:cNvPr id="14" name="Picture 13">
            <a:extLst>
              <a:ext uri="{FF2B5EF4-FFF2-40B4-BE49-F238E27FC236}">
                <a16:creationId xmlns:a16="http://schemas.microsoft.com/office/drawing/2014/main" id="{44E1F264-E082-062B-50CE-5E3E91D3A099}"/>
              </a:ext>
            </a:extLst>
          </p:cNvPr>
          <p:cNvPicPr>
            <a:picLocks noChangeAspect="1"/>
          </p:cNvPicPr>
          <p:nvPr/>
        </p:nvPicPr>
        <p:blipFill>
          <a:blip r:embed="rId4"/>
          <a:stretch>
            <a:fillRect/>
          </a:stretch>
        </p:blipFill>
        <p:spPr>
          <a:xfrm>
            <a:off x="675957" y="2500026"/>
            <a:ext cx="5486875" cy="4267570"/>
          </a:xfrm>
          <a:prstGeom prst="rect">
            <a:avLst/>
          </a:prstGeom>
        </p:spPr>
      </p:pic>
    </p:spTree>
    <p:extLst>
      <p:ext uri="{BB962C8B-B14F-4D97-AF65-F5344CB8AC3E}">
        <p14:creationId xmlns:p14="http://schemas.microsoft.com/office/powerpoint/2010/main" val="8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8C47C-5AA7-F405-D810-ED67A355C63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FC90A4-C35B-6DF5-79D3-64CF0D71A34D}"/>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30545FC-A419-C2DF-007B-2C3A30F5343B}"/>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B700F645-9A7A-FB9F-F50E-69DBE7F6059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301B026-1835-4513-B787-537414BD4F1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C88EDBCA-7A52-ABDE-478D-949DF9837787}"/>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b="0" u="sng" dirty="0">
              <a:solidFill>
                <a:srgbClr val="0070C0"/>
              </a:solidFill>
            </a:endParaRPr>
          </a:p>
        </p:txBody>
      </p:sp>
      <p:pic>
        <p:nvPicPr>
          <p:cNvPr id="3" name="Picture 2">
            <a:extLst>
              <a:ext uri="{FF2B5EF4-FFF2-40B4-BE49-F238E27FC236}">
                <a16:creationId xmlns:a16="http://schemas.microsoft.com/office/drawing/2014/main" id="{1C99FF88-596A-6862-4D31-EC2F5D942B9B}"/>
              </a:ext>
            </a:extLst>
          </p:cNvPr>
          <p:cNvPicPr>
            <a:picLocks noChangeAspect="1"/>
          </p:cNvPicPr>
          <p:nvPr/>
        </p:nvPicPr>
        <p:blipFill>
          <a:blip r:embed="rId3"/>
          <a:stretch>
            <a:fillRect/>
          </a:stretch>
        </p:blipFill>
        <p:spPr>
          <a:xfrm>
            <a:off x="6442856" y="2590986"/>
            <a:ext cx="2492798" cy="2154055"/>
          </a:xfrm>
          <a:prstGeom prst="rect">
            <a:avLst/>
          </a:prstGeom>
        </p:spPr>
      </p:pic>
      <p:pic>
        <p:nvPicPr>
          <p:cNvPr id="10" name="Picture 9">
            <a:extLst>
              <a:ext uri="{FF2B5EF4-FFF2-40B4-BE49-F238E27FC236}">
                <a16:creationId xmlns:a16="http://schemas.microsoft.com/office/drawing/2014/main" id="{21D313BD-2909-B088-60A8-1F212E5811BE}"/>
              </a:ext>
            </a:extLst>
          </p:cNvPr>
          <p:cNvPicPr>
            <a:picLocks noChangeAspect="1"/>
          </p:cNvPicPr>
          <p:nvPr/>
        </p:nvPicPr>
        <p:blipFill>
          <a:blip r:embed="rId4"/>
          <a:stretch>
            <a:fillRect/>
          </a:stretch>
        </p:blipFill>
        <p:spPr>
          <a:xfrm>
            <a:off x="532762" y="1784462"/>
            <a:ext cx="5372566" cy="4252328"/>
          </a:xfrm>
          <a:prstGeom prst="rect">
            <a:avLst/>
          </a:prstGeom>
        </p:spPr>
      </p:pic>
    </p:spTree>
    <p:extLst>
      <p:ext uri="{BB962C8B-B14F-4D97-AF65-F5344CB8AC3E}">
        <p14:creationId xmlns:p14="http://schemas.microsoft.com/office/powerpoint/2010/main" val="3042952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03933-B4FD-119F-158A-8F3966A0D41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0D6439-A682-B6A7-677F-6E98CF29304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49698AA-8890-BD28-2B05-F7066B6DB5A3}"/>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015EE0C6-EA05-CB81-1E00-7104F8C6913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1E6603C-C531-1545-3C4A-8C08A1A9BC5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F3C900CF-7728-1318-A4FE-D0D5C490424D}"/>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rPr>
              <a:t>Demo Link</a:t>
            </a:r>
            <a:endParaRPr lang="en-IN" b="0" u="sng" dirty="0">
              <a:solidFill>
                <a:srgbClr val="0070C0"/>
              </a:solidFill>
            </a:endParaRPr>
          </a:p>
        </p:txBody>
      </p:sp>
      <p:pic>
        <p:nvPicPr>
          <p:cNvPr id="12" name="Picture 11">
            <a:extLst>
              <a:ext uri="{FF2B5EF4-FFF2-40B4-BE49-F238E27FC236}">
                <a16:creationId xmlns:a16="http://schemas.microsoft.com/office/drawing/2014/main" id="{B34CC97F-803B-2156-91EA-EA023A324F59}"/>
              </a:ext>
            </a:extLst>
          </p:cNvPr>
          <p:cNvPicPr>
            <a:picLocks noChangeAspect="1"/>
          </p:cNvPicPr>
          <p:nvPr/>
        </p:nvPicPr>
        <p:blipFill>
          <a:blip r:embed="rId3"/>
          <a:stretch>
            <a:fillRect/>
          </a:stretch>
        </p:blipFill>
        <p:spPr>
          <a:xfrm>
            <a:off x="675957" y="1201586"/>
            <a:ext cx="6229768" cy="1565843"/>
          </a:xfrm>
          <a:prstGeom prst="rect">
            <a:avLst/>
          </a:prstGeom>
        </p:spPr>
      </p:pic>
      <p:pic>
        <p:nvPicPr>
          <p:cNvPr id="14" name="Picture 13">
            <a:extLst>
              <a:ext uri="{FF2B5EF4-FFF2-40B4-BE49-F238E27FC236}">
                <a16:creationId xmlns:a16="http://schemas.microsoft.com/office/drawing/2014/main" id="{B1136EE7-93CA-36DB-561F-3AB9EE53BCA3}"/>
              </a:ext>
            </a:extLst>
          </p:cNvPr>
          <p:cNvPicPr>
            <a:picLocks noChangeAspect="1"/>
          </p:cNvPicPr>
          <p:nvPr/>
        </p:nvPicPr>
        <p:blipFill>
          <a:blip r:embed="rId4"/>
          <a:stretch>
            <a:fillRect/>
          </a:stretch>
        </p:blipFill>
        <p:spPr>
          <a:xfrm>
            <a:off x="2646614" y="2896673"/>
            <a:ext cx="4593942" cy="3590738"/>
          </a:xfrm>
          <a:prstGeom prst="rect">
            <a:avLst/>
          </a:prstGeom>
        </p:spPr>
      </p:pic>
    </p:spTree>
    <p:extLst>
      <p:ext uri="{BB962C8B-B14F-4D97-AF65-F5344CB8AC3E}">
        <p14:creationId xmlns:p14="http://schemas.microsoft.com/office/powerpoint/2010/main" val="2920744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893894"/>
            <a:ext cx="10223559" cy="453919"/>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598</TotalTime>
  <Words>206</Words>
  <Application>Microsoft Office PowerPoint</Application>
  <PresentationFormat>Widescreen</PresentationFormat>
  <Paragraphs>28</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Project Title – Healthcare analytics for doctor visit.</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mansi.breja2907@gmail.com</cp:lastModifiedBy>
  <cp:revision>75</cp:revision>
  <dcterms:created xsi:type="dcterms:W3CDTF">2021-07-11T13:13:15Z</dcterms:created>
  <dcterms:modified xsi:type="dcterms:W3CDTF">2026-10-06T10:20:11Z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